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notesSlides/notesSlide16.xml" ContentType="application/vnd.openxmlformats-officedocument.presentationml.notesSlide+xml"/>
  <Override PartName="/ppt/charts/chart3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4.xml" ContentType="application/vnd.openxmlformats-officedocument.drawingml.chart+xml"/>
  <Override PartName="/ppt/notesSlides/notesSlide20.xml" ContentType="application/vnd.openxmlformats-officedocument.presentationml.notesSlide+xml"/>
  <Override PartName="/ppt/charts/chart5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79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80" r:id="rId24"/>
    <p:sldId id="278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685-4734-9010-597E18D7CEC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685-4734-9010-597E18D7CECC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685-4734-9010-597E18D7CECC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4685-4734-9010-597E18D7CECC}"/>
              </c:ext>
            </c:extLst>
          </c:dPt>
          <c:dPt>
            <c:idx val="4"/>
            <c:invertIfNegative val="0"/>
            <c:bubble3D val="0"/>
            <c:spPr>
              <a:solidFill>
                <a:srgbClr val="ED7D3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685-4734-9010-597E18D7CECC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4685-4734-9010-597E18D7CECC}"/>
              </c:ext>
            </c:extLst>
          </c:dPt>
          <c:dPt>
            <c:idx val="6"/>
            <c:invertIfNegative val="0"/>
            <c:bubble3D val="0"/>
            <c:spPr>
              <a:solidFill>
                <a:srgbClr val="ED7D3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685-4734-9010-597E18D7CECC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4685-4734-9010-597E18D7CECC}"/>
              </c:ext>
            </c:extLst>
          </c:dPt>
          <c:dPt>
            <c:idx val="8"/>
            <c:invertIfNegative val="0"/>
            <c:bubble3D val="0"/>
            <c:spPr>
              <a:solidFill>
                <a:srgbClr val="7F7F7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4685-4734-9010-597E18D7CECC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FBCCA</c:v>
                </c:pt>
                <c:pt idx="1">
                  <c:v>FBTtCCA</c:v>
                </c:pt>
                <c:pt idx="2">
                  <c:v>CCA only</c:v>
                </c:pt>
                <c:pt idx="3">
                  <c:v>CNN-Net</c:v>
                </c:pt>
                <c:pt idx="4">
                  <c:v>GNN-Net</c:v>
                </c:pt>
                <c:pt idx="5">
                  <c:v>CNN-Net + CCA</c:v>
                </c:pt>
                <c:pt idx="6">
                  <c:v>GNN-Net + CCA</c:v>
                </c:pt>
                <c:pt idx="7">
                  <c:v>CCA-Net (replication)</c:v>
                </c:pt>
                <c:pt idx="8">
                  <c:v>CCA-Net (published)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63.49</c:v>
                </c:pt>
                <c:pt idx="1">
                  <c:v>77.709999999999994</c:v>
                </c:pt>
                <c:pt idx="2">
                  <c:v>80.77</c:v>
                </c:pt>
                <c:pt idx="3">
                  <c:v>68.319999999999993</c:v>
                </c:pt>
                <c:pt idx="4">
                  <c:v>66.98</c:v>
                </c:pt>
                <c:pt idx="5">
                  <c:v>82.31</c:v>
                </c:pt>
                <c:pt idx="6">
                  <c:v>83.19</c:v>
                </c:pt>
                <c:pt idx="7">
                  <c:v>82.48</c:v>
                </c:pt>
                <c:pt idx="8">
                  <c:v>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4685-4734-9010-597E18D7CEC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sz="1200" b="0" i="0" u="none" strike="noStrike">
                    <a:solidFill>
                      <a:srgbClr val="000000"/>
                    </a:solidFill>
                    <a:latin typeface="Arial"/>
                  </a:rPr>
                  <a:t>Accuracy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0.5 s window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FBCCA</c:v>
                </c:pt>
                <c:pt idx="1">
                  <c:v>FBTtCCA</c:v>
                </c:pt>
                <c:pt idx="2">
                  <c:v>CCA only</c:v>
                </c:pt>
                <c:pt idx="3">
                  <c:v>CNN-Net</c:v>
                </c:pt>
                <c:pt idx="4">
                  <c:v>GNN-Net</c:v>
                </c:pt>
                <c:pt idx="5">
                  <c:v>CNN-Net + CCA</c:v>
                </c:pt>
                <c:pt idx="6">
                  <c:v>GNN-Net + CCA</c:v>
                </c:pt>
                <c:pt idx="7">
                  <c:v>CCA-Net (replication)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20.64</c:v>
                </c:pt>
                <c:pt idx="1">
                  <c:v>39.15</c:v>
                </c:pt>
                <c:pt idx="2">
                  <c:v>43.96</c:v>
                </c:pt>
                <c:pt idx="3">
                  <c:v>41.54</c:v>
                </c:pt>
                <c:pt idx="4">
                  <c:v>32.56</c:v>
                </c:pt>
                <c:pt idx="5">
                  <c:v>51.65</c:v>
                </c:pt>
                <c:pt idx="6">
                  <c:v>48.77</c:v>
                </c:pt>
                <c:pt idx="7">
                  <c:v>51.95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26-4CAC-A421-4E548DC9E81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1.0 s window</c:v>
                </c:pt>
              </c:strCache>
            </c:strRef>
          </c:tx>
          <c:spPr>
            <a:solidFill>
              <a:srgbClr val="ED7D31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FBCCA</c:v>
                </c:pt>
                <c:pt idx="1">
                  <c:v>FBTtCCA</c:v>
                </c:pt>
                <c:pt idx="2">
                  <c:v>CCA only</c:v>
                </c:pt>
                <c:pt idx="3">
                  <c:v>CNN-Net</c:v>
                </c:pt>
                <c:pt idx="4">
                  <c:v>GNN-Net</c:v>
                </c:pt>
                <c:pt idx="5">
                  <c:v>CNN-Net + CCA</c:v>
                </c:pt>
                <c:pt idx="6">
                  <c:v>GNN-Net + CCA</c:v>
                </c:pt>
                <c:pt idx="7">
                  <c:v>CCA-Net (replication)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63.49</c:v>
                </c:pt>
                <c:pt idx="1">
                  <c:v>77.709999999999994</c:v>
                </c:pt>
                <c:pt idx="2">
                  <c:v>80.77</c:v>
                </c:pt>
                <c:pt idx="3">
                  <c:v>68.319999999999993</c:v>
                </c:pt>
                <c:pt idx="4">
                  <c:v>66.98</c:v>
                </c:pt>
                <c:pt idx="5">
                  <c:v>82.31</c:v>
                </c:pt>
                <c:pt idx="6">
                  <c:v>83.19</c:v>
                </c:pt>
                <c:pt idx="7">
                  <c:v>82.48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26-4CAC-A421-4E548DC9E81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sz="1200" b="0" i="0" u="none" strike="noStrike">
                    <a:solidFill>
                      <a:srgbClr val="000000"/>
                    </a:solidFill>
                    <a:latin typeface="Arial"/>
                  </a:rPr>
                  <a:t>Accuracy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ITR (bits/min)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845-4840-87A7-78936634D1C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845-4840-87A7-78936634D1C4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C845-4840-87A7-78936634D1C4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C845-4840-87A7-78936634D1C4}"/>
              </c:ext>
            </c:extLst>
          </c:dPt>
          <c:dPt>
            <c:idx val="4"/>
            <c:invertIfNegative val="0"/>
            <c:bubble3D val="0"/>
            <c:spPr>
              <a:solidFill>
                <a:srgbClr val="ED7D3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845-4840-87A7-78936634D1C4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C845-4840-87A7-78936634D1C4}"/>
              </c:ext>
            </c:extLst>
          </c:dPt>
          <c:dPt>
            <c:idx val="6"/>
            <c:invertIfNegative val="0"/>
            <c:bubble3D val="0"/>
            <c:spPr>
              <a:solidFill>
                <a:srgbClr val="ED7D3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845-4840-87A7-78936634D1C4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C845-4840-87A7-78936634D1C4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FBCCA</c:v>
                </c:pt>
                <c:pt idx="1">
                  <c:v>FBTtCCA</c:v>
                </c:pt>
                <c:pt idx="2">
                  <c:v>CCA only</c:v>
                </c:pt>
                <c:pt idx="3">
                  <c:v>CNN-Net</c:v>
                </c:pt>
                <c:pt idx="4">
                  <c:v>GNN-Net</c:v>
                </c:pt>
                <c:pt idx="5">
                  <c:v>CNN-Net + CCA</c:v>
                </c:pt>
                <c:pt idx="6">
                  <c:v>GNN-Net + CCA</c:v>
                </c:pt>
                <c:pt idx="7">
                  <c:v>CCA-Net (replication)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103.48</c:v>
                </c:pt>
                <c:pt idx="1">
                  <c:v>141.30000000000001</c:v>
                </c:pt>
                <c:pt idx="2">
                  <c:v>150.09</c:v>
                </c:pt>
                <c:pt idx="3">
                  <c:v>117.55</c:v>
                </c:pt>
                <c:pt idx="4">
                  <c:v>112.32</c:v>
                </c:pt>
                <c:pt idx="5">
                  <c:v>154.62</c:v>
                </c:pt>
                <c:pt idx="6">
                  <c:v>156.57</c:v>
                </c:pt>
                <c:pt idx="7">
                  <c:v>154.91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C845-4840-87A7-78936634D1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80"/>
          <c:min val="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sz="1200" b="0" i="0" u="none" strike="noStrike">
                    <a:solidFill>
                      <a:srgbClr val="000000"/>
                    </a:solidFill>
                    <a:latin typeface="Arial"/>
                  </a:rPr>
                  <a:t>ITR (bits/min)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Ours minus published (points)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77B-4E93-ACE0-2B62B99904FD}"/>
              </c:ext>
            </c:extLst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77B-4E93-ACE0-2B62B99904F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77B-4E93-ACE0-2B62B99904FD}"/>
              </c:ext>
            </c:extLst>
          </c:dPt>
          <c:dPt>
            <c:idx val="3"/>
            <c:invertIfNegative val="0"/>
            <c:bubble3D val="0"/>
            <c:spPr>
              <a:solidFill>
                <a:srgbClr val="ED7D3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77B-4E93-ACE0-2B62B99904FD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477B-4E93-ACE0-2B62B99904FD}"/>
              </c:ext>
            </c:extLst>
          </c:dPt>
          <c:dPt>
            <c:idx val="5"/>
            <c:invertIfNegative val="0"/>
            <c:bubble3D val="0"/>
            <c:spPr>
              <a:solidFill>
                <a:srgbClr val="ED7D3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77B-4E93-ACE0-2B62B99904FD}"/>
              </c:ext>
            </c:extLst>
          </c:dPt>
          <c:dPt>
            <c:idx val="6"/>
            <c:invertIfNegative val="0"/>
            <c:bubble3D val="0"/>
            <c:spPr>
              <a:solidFill>
                <a:srgbClr val="7F7F7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77B-4E93-ACE0-2B62B99904FD}"/>
              </c:ext>
            </c:extLst>
          </c:dPt>
          <c:dLbls>
            <c:numFmt formatCode="\+0.00;\-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CNN-Net alone</c:v>
                </c:pt>
                <c:pt idx="1">
                  <c:v>GNN-Net alone</c:v>
                </c:pt>
                <c:pt idx="2">
                  <c:v>CNN-Net + CCA (fuse4)</c:v>
                </c:pt>
                <c:pt idx="3">
                  <c:v>GNN-Net + CCA (fuse4)</c:v>
                </c:pt>
                <c:pt idx="4">
                  <c:v>CNN-Net + CCA (full)</c:v>
                </c:pt>
                <c:pt idx="5">
                  <c:v>GNN-Net + CCA (full)</c:v>
                </c:pt>
                <c:pt idx="6">
                  <c:v>CCA-Net replication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-1.78</c:v>
                </c:pt>
                <c:pt idx="1">
                  <c:v>-3.12</c:v>
                </c:pt>
                <c:pt idx="2">
                  <c:v>-1.69</c:v>
                </c:pt>
                <c:pt idx="3">
                  <c:v>-0.81</c:v>
                </c:pt>
                <c:pt idx="4">
                  <c:v>-0.61</c:v>
                </c:pt>
                <c:pt idx="5">
                  <c:v>0.06</c:v>
                </c:pt>
                <c:pt idx="6">
                  <c:v>-1.52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477B-4E93-ACE0-2B62B99904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-4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sz="1200" b="0" i="0" u="none" strike="noStrike">
                    <a:solidFill>
                      <a:srgbClr val="000000"/>
                    </a:solidFill>
                    <a:latin typeface="Arial"/>
                  </a:rPr>
                  <a:t>Accuracy difference (points)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Identity</c:v>
                </c:pt>
                <c:pt idx="1">
                  <c:v>Anatomical</c:v>
                </c:pt>
                <c:pt idx="2">
                  <c:v>Learned</c:v>
                </c:pt>
                <c:pt idx="3">
                  <c:v>Uniform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59.87</c:v>
                </c:pt>
                <c:pt idx="1">
                  <c:v>62.77</c:v>
                </c:pt>
                <c:pt idx="2">
                  <c:v>66.98</c:v>
                </c:pt>
                <c:pt idx="3">
                  <c:v>67.25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E6-4C03-ADC5-8C13282FAB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"/>
          <c:min val="5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2151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3611880"/>
            <a:ext cx="2286000" cy="6400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822960" y="146304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822960" y="384048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 – Review II  |  BECE497J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 – Review II  |  BECE497J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246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 – Review II  |  BECE497J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93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822960" y="14630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4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Graph Neural Network for SSVEP EEG Classification with CCA Fusion</a:t>
            </a:r>
            <a:endParaRPr lang="en-US" sz="44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822960" y="384048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 – Review II (BECE497J)</a:t>
            </a:r>
            <a:endParaRPr lang="en-US" sz="2000" dirty="0"/>
          </a:p>
          <a:p>
            <a:r>
              <a:rPr lang="en-US" dirty="0"/>
              <a:t>Roshan Kumar  (23BEC0289) </a:t>
            </a:r>
            <a:r>
              <a:rPr lang="en-US" sz="2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r>
              <a:rPr lang="en-US" dirty="0"/>
              <a:t>Satish </a:t>
            </a:r>
            <a:r>
              <a:rPr lang="en-US" sz="2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(23BEC0008) | </a:t>
            </a:r>
            <a:r>
              <a:rPr lang="en-US" dirty="0"/>
              <a:t>Pranav Shree (23BEC0376)</a:t>
            </a:r>
          </a:p>
          <a:p>
            <a:r>
              <a:rPr lang="en-US" sz="2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: </a:t>
            </a:r>
            <a:r>
              <a:rPr lang="en-IN" dirty="0"/>
              <a:t>Suraj Prakash Sahoo</a:t>
            </a:r>
            <a:endParaRPr lang="en-US" sz="2000" dirty="0">
              <a:solidFill>
                <a:srgbClr val="59595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2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October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Problem and Motivation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F7F7F"/>
                </a:solidFill>
              </a:rPr>
              <a:t>Typical approach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237744" cy="237744"/>
          </a:xfrm>
          <a:prstGeom prst="rect">
            <a:avLst/>
          </a:prstGeom>
          <a:solidFill>
            <a:srgbClr val="BFBFB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1783080"/>
            <a:ext cx="237744" cy="237744"/>
          </a:xfrm>
          <a:prstGeom prst="rect">
            <a:avLst/>
          </a:prstGeom>
          <a:solidFill>
            <a:srgbClr val="D9D9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43584" y="1783080"/>
            <a:ext cx="237744" cy="237744"/>
          </a:xfrm>
          <a:prstGeom prst="rect">
            <a:avLst/>
          </a:prstGeom>
          <a:solidFill>
            <a:srgbClr val="BFBFB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99616" y="1783080"/>
            <a:ext cx="237744" cy="237744"/>
          </a:xfrm>
          <a:prstGeom prst="rect">
            <a:avLst/>
          </a:prstGeom>
          <a:solidFill>
            <a:srgbClr val="D9D9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55648" y="1783080"/>
            <a:ext cx="237744" cy="237744"/>
          </a:xfrm>
          <a:prstGeom prst="rect">
            <a:avLst/>
          </a:prstGeom>
          <a:solidFill>
            <a:srgbClr val="BFBFB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1783080"/>
            <a:ext cx="237744" cy="237744"/>
          </a:xfrm>
          <a:prstGeom prst="rect">
            <a:avLst/>
          </a:prstGeom>
          <a:solidFill>
            <a:srgbClr val="D9D9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039112"/>
            <a:ext cx="237744" cy="237744"/>
          </a:xfrm>
          <a:prstGeom prst="rect">
            <a:avLst/>
          </a:prstGeom>
          <a:solidFill>
            <a:srgbClr val="D9D9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2039112"/>
            <a:ext cx="237744" cy="237744"/>
          </a:xfrm>
          <a:prstGeom prst="rect">
            <a:avLst/>
          </a:prstGeom>
          <a:solidFill>
            <a:srgbClr val="BFBFB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43584" y="2039112"/>
            <a:ext cx="237744" cy="237744"/>
          </a:xfrm>
          <a:prstGeom prst="rect">
            <a:avLst/>
          </a:prstGeom>
          <a:solidFill>
            <a:srgbClr val="D9D9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99616" y="2039112"/>
            <a:ext cx="237744" cy="237744"/>
          </a:xfrm>
          <a:prstGeom prst="rect">
            <a:avLst/>
          </a:prstGeom>
          <a:solidFill>
            <a:srgbClr val="BFBFB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55648" y="2039112"/>
            <a:ext cx="237744" cy="237744"/>
          </a:xfrm>
          <a:prstGeom prst="rect">
            <a:avLst/>
          </a:prstGeom>
          <a:solidFill>
            <a:srgbClr val="D9D9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2039112"/>
            <a:ext cx="237744" cy="237744"/>
          </a:xfrm>
          <a:prstGeom prst="rect">
            <a:avLst/>
          </a:prstGeom>
          <a:solidFill>
            <a:srgbClr val="BFBFB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2295144"/>
            <a:ext cx="237744" cy="237744"/>
          </a:xfrm>
          <a:prstGeom prst="rect">
            <a:avLst/>
          </a:prstGeom>
          <a:solidFill>
            <a:srgbClr val="BFBFB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7552" y="2295144"/>
            <a:ext cx="237744" cy="237744"/>
          </a:xfrm>
          <a:prstGeom prst="rect">
            <a:avLst/>
          </a:prstGeom>
          <a:solidFill>
            <a:srgbClr val="D9D9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43584" y="2295144"/>
            <a:ext cx="237744" cy="237744"/>
          </a:xfrm>
          <a:prstGeom prst="rect">
            <a:avLst/>
          </a:prstGeom>
          <a:solidFill>
            <a:srgbClr val="BFBFB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99616" y="2295144"/>
            <a:ext cx="237744" cy="237744"/>
          </a:xfrm>
          <a:prstGeom prst="rect">
            <a:avLst/>
          </a:prstGeom>
          <a:solidFill>
            <a:srgbClr val="D9D9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55648" y="2295144"/>
            <a:ext cx="237744" cy="237744"/>
          </a:xfrm>
          <a:prstGeom prst="rect">
            <a:avLst/>
          </a:prstGeom>
          <a:solidFill>
            <a:srgbClr val="BFBFB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11680" y="2295144"/>
            <a:ext cx="237744" cy="237744"/>
          </a:xfrm>
          <a:prstGeom prst="rect">
            <a:avLst/>
          </a:prstGeom>
          <a:solidFill>
            <a:srgbClr val="D9D9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2551176"/>
            <a:ext cx="237744" cy="237744"/>
          </a:xfrm>
          <a:prstGeom prst="rect">
            <a:avLst/>
          </a:prstGeom>
          <a:solidFill>
            <a:srgbClr val="D9D9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7552" y="2551176"/>
            <a:ext cx="237744" cy="237744"/>
          </a:xfrm>
          <a:prstGeom prst="rect">
            <a:avLst/>
          </a:prstGeom>
          <a:solidFill>
            <a:srgbClr val="BFBFB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43584" y="2551176"/>
            <a:ext cx="237744" cy="237744"/>
          </a:xfrm>
          <a:prstGeom prst="rect">
            <a:avLst/>
          </a:prstGeom>
          <a:solidFill>
            <a:srgbClr val="D9D9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99616" y="2551176"/>
            <a:ext cx="237744" cy="237744"/>
          </a:xfrm>
          <a:prstGeom prst="rect">
            <a:avLst/>
          </a:prstGeom>
          <a:solidFill>
            <a:srgbClr val="BFBFB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55648" y="2551176"/>
            <a:ext cx="237744" cy="237744"/>
          </a:xfrm>
          <a:prstGeom prst="rect">
            <a:avLst/>
          </a:prstGeom>
          <a:solidFill>
            <a:srgbClr val="D9D9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11680" y="2551176"/>
            <a:ext cx="237744" cy="237744"/>
          </a:xfrm>
          <a:prstGeom prst="rect">
            <a:avLst/>
          </a:prstGeom>
          <a:solidFill>
            <a:srgbClr val="BFBFB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2807208"/>
            <a:ext cx="237744" cy="237744"/>
          </a:xfrm>
          <a:prstGeom prst="rect">
            <a:avLst/>
          </a:prstGeom>
          <a:solidFill>
            <a:srgbClr val="BFBFB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7552" y="2807208"/>
            <a:ext cx="237744" cy="237744"/>
          </a:xfrm>
          <a:prstGeom prst="rect">
            <a:avLst/>
          </a:prstGeom>
          <a:solidFill>
            <a:srgbClr val="D9D9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43584" y="2807208"/>
            <a:ext cx="237744" cy="237744"/>
          </a:xfrm>
          <a:prstGeom prst="rect">
            <a:avLst/>
          </a:prstGeom>
          <a:solidFill>
            <a:srgbClr val="BFBFB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99616" y="2807208"/>
            <a:ext cx="237744" cy="237744"/>
          </a:xfrm>
          <a:prstGeom prst="rect">
            <a:avLst/>
          </a:prstGeom>
          <a:solidFill>
            <a:srgbClr val="D9D9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755648" y="2807208"/>
            <a:ext cx="237744" cy="237744"/>
          </a:xfrm>
          <a:prstGeom prst="rect">
            <a:avLst/>
          </a:prstGeom>
          <a:solidFill>
            <a:srgbClr val="BFBFB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11680" y="2807208"/>
            <a:ext cx="237744" cy="237744"/>
          </a:xfrm>
          <a:prstGeom prst="rect">
            <a:avLst/>
          </a:prstGeom>
          <a:solidFill>
            <a:srgbClr val="D9D9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3063240"/>
            <a:ext cx="237744" cy="237744"/>
          </a:xfrm>
          <a:prstGeom prst="rect">
            <a:avLst/>
          </a:prstGeom>
          <a:solidFill>
            <a:srgbClr val="D9D9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7552" y="3063240"/>
            <a:ext cx="237744" cy="237744"/>
          </a:xfrm>
          <a:prstGeom prst="rect">
            <a:avLst/>
          </a:prstGeom>
          <a:solidFill>
            <a:srgbClr val="BFBFB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43584" y="3063240"/>
            <a:ext cx="237744" cy="237744"/>
          </a:xfrm>
          <a:prstGeom prst="rect">
            <a:avLst/>
          </a:prstGeom>
          <a:solidFill>
            <a:srgbClr val="D9D9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499616" y="3063240"/>
            <a:ext cx="237744" cy="237744"/>
          </a:xfrm>
          <a:prstGeom prst="rect">
            <a:avLst/>
          </a:prstGeom>
          <a:solidFill>
            <a:srgbClr val="BFBFB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755648" y="3063240"/>
            <a:ext cx="237744" cy="237744"/>
          </a:xfrm>
          <a:prstGeom prst="rect">
            <a:avLst/>
          </a:prstGeom>
          <a:solidFill>
            <a:srgbClr val="D9D9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11680" y="3063240"/>
            <a:ext cx="237744" cy="237744"/>
          </a:xfrm>
          <a:prstGeom prst="rect">
            <a:avLst/>
          </a:prstGeom>
          <a:solidFill>
            <a:srgbClr val="BFBFB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1520" y="3319272"/>
            <a:ext cx="237744" cy="237744"/>
          </a:xfrm>
          <a:prstGeom prst="rect">
            <a:avLst/>
          </a:prstGeom>
          <a:solidFill>
            <a:srgbClr val="BFBFB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87552" y="3319272"/>
            <a:ext cx="237744" cy="237744"/>
          </a:xfrm>
          <a:prstGeom prst="rect">
            <a:avLst/>
          </a:prstGeom>
          <a:solidFill>
            <a:srgbClr val="D9D9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243584" y="3319272"/>
            <a:ext cx="237744" cy="237744"/>
          </a:xfrm>
          <a:prstGeom prst="rect">
            <a:avLst/>
          </a:prstGeom>
          <a:solidFill>
            <a:srgbClr val="BFBFB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99616" y="3319272"/>
            <a:ext cx="237744" cy="237744"/>
          </a:xfrm>
          <a:prstGeom prst="rect">
            <a:avLst/>
          </a:prstGeom>
          <a:solidFill>
            <a:srgbClr val="D9D9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755648" y="3319272"/>
            <a:ext cx="237744" cy="237744"/>
          </a:xfrm>
          <a:prstGeom prst="rect">
            <a:avLst/>
          </a:prstGeom>
          <a:solidFill>
            <a:srgbClr val="BFBFB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011680" y="3319272"/>
            <a:ext cx="237744" cy="237744"/>
          </a:xfrm>
          <a:prstGeom prst="rect">
            <a:avLst/>
          </a:prstGeom>
          <a:solidFill>
            <a:srgbClr val="D9D9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1520" y="3575304"/>
            <a:ext cx="237744" cy="237744"/>
          </a:xfrm>
          <a:prstGeom prst="rect">
            <a:avLst/>
          </a:prstGeom>
          <a:solidFill>
            <a:srgbClr val="D9D9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87552" y="3575304"/>
            <a:ext cx="237744" cy="237744"/>
          </a:xfrm>
          <a:prstGeom prst="rect">
            <a:avLst/>
          </a:prstGeom>
          <a:solidFill>
            <a:srgbClr val="BFBFB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243584" y="3575304"/>
            <a:ext cx="237744" cy="237744"/>
          </a:xfrm>
          <a:prstGeom prst="rect">
            <a:avLst/>
          </a:prstGeom>
          <a:solidFill>
            <a:srgbClr val="D9D9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499616" y="3575304"/>
            <a:ext cx="237744" cy="237744"/>
          </a:xfrm>
          <a:prstGeom prst="rect">
            <a:avLst/>
          </a:prstGeom>
          <a:solidFill>
            <a:srgbClr val="BFBFB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755648" y="3575304"/>
            <a:ext cx="237744" cy="237744"/>
          </a:xfrm>
          <a:prstGeom prst="rect">
            <a:avLst/>
          </a:prstGeom>
          <a:solidFill>
            <a:srgbClr val="D9D9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011680" y="3575304"/>
            <a:ext cx="237744" cy="237744"/>
          </a:xfrm>
          <a:prstGeom prst="rect">
            <a:avLst/>
          </a:prstGeom>
          <a:solidFill>
            <a:srgbClr val="BFBFB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31520" y="3831336"/>
            <a:ext cx="237744" cy="237744"/>
          </a:xfrm>
          <a:prstGeom prst="rect">
            <a:avLst/>
          </a:prstGeom>
          <a:solidFill>
            <a:srgbClr val="BFBFB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87552" y="3831336"/>
            <a:ext cx="237744" cy="237744"/>
          </a:xfrm>
          <a:prstGeom prst="rect">
            <a:avLst/>
          </a:prstGeom>
          <a:solidFill>
            <a:srgbClr val="D9D9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243584" y="3831336"/>
            <a:ext cx="237744" cy="237744"/>
          </a:xfrm>
          <a:prstGeom prst="rect">
            <a:avLst/>
          </a:prstGeom>
          <a:solidFill>
            <a:srgbClr val="BFBFB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499616" y="3831336"/>
            <a:ext cx="237744" cy="237744"/>
          </a:xfrm>
          <a:prstGeom prst="rect">
            <a:avLst/>
          </a:prstGeom>
          <a:solidFill>
            <a:srgbClr val="D9D9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755648" y="3831336"/>
            <a:ext cx="237744" cy="237744"/>
          </a:xfrm>
          <a:prstGeom prst="rect">
            <a:avLst/>
          </a:prstGeom>
          <a:solidFill>
            <a:srgbClr val="BFBFB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011680" y="3831336"/>
            <a:ext cx="237744" cy="237744"/>
          </a:xfrm>
          <a:prstGeom prst="rect">
            <a:avLst/>
          </a:prstGeom>
          <a:solidFill>
            <a:srgbClr val="D9D9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31720" y="2788920"/>
            <a:ext cx="320040" cy="320040"/>
          </a:xfrm>
          <a:prstGeom prst="rightArrow">
            <a:avLst/>
          </a:prstGeom>
          <a:solidFill>
            <a:srgbClr val="A5A5A5"/>
          </a:solidFill>
          <a:ln w="12700">
            <a:solidFill>
              <a:srgbClr val="A5A5A5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2743200" y="2514600"/>
            <a:ext cx="1005840" cy="868680"/>
          </a:xfrm>
          <a:prstGeom prst="rect">
            <a:avLst/>
          </a:prstGeom>
          <a:solidFill>
            <a:srgbClr val="7F7F7F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CNN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3840480" y="2788920"/>
            <a:ext cx="320040" cy="320040"/>
          </a:xfrm>
          <a:prstGeom prst="rightArrow">
            <a:avLst/>
          </a:prstGeom>
          <a:solidFill>
            <a:srgbClr val="A5A5A5"/>
          </a:solidFill>
          <a:ln w="12700">
            <a:solidFill>
              <a:srgbClr val="A5A5A5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206240" y="2514600"/>
            <a:ext cx="914400" cy="868680"/>
          </a:xfrm>
          <a:prstGeom prst="rect">
            <a:avLst/>
          </a:prstGeom>
          <a:solidFill>
            <a:srgbClr val="A5A5A5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Class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548640" y="42062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7F7F7F"/>
                </a:solidFill>
              </a:rPr>
              <a:t>Channels as a matrix; electrode relationships are learned only implicitly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5897880" y="1371600"/>
            <a:ext cx="0" cy="338328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309360" y="1234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472C4"/>
                </a:solidFill>
              </a:rPr>
              <a:t>Our approach</a:t>
            </a:r>
            <a:endParaRPr lang="en-US" sz="2000" dirty="0"/>
          </a:p>
        </p:txBody>
      </p:sp>
      <p:sp>
        <p:nvSpPr>
          <p:cNvPr id="65" name="Shape 63"/>
          <p:cNvSpPr/>
          <p:nvPr/>
        </p:nvSpPr>
        <p:spPr>
          <a:xfrm>
            <a:off x="7406640" y="1988820"/>
            <a:ext cx="0" cy="685800"/>
          </a:xfrm>
          <a:prstGeom prst="line">
            <a:avLst/>
          </a:prstGeom>
          <a:noFill/>
          <a:ln w="19050">
            <a:solidFill>
              <a:srgbClr val="A5A5A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6892290" y="1988820"/>
            <a:ext cx="514350" cy="742950"/>
          </a:xfrm>
          <a:prstGeom prst="line">
            <a:avLst/>
          </a:prstGeom>
          <a:noFill/>
          <a:ln w="19050">
            <a:solidFill>
              <a:srgbClr val="A5A5A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406640" y="1988820"/>
            <a:ext cx="514350" cy="742950"/>
          </a:xfrm>
          <a:prstGeom prst="line">
            <a:avLst/>
          </a:prstGeom>
          <a:noFill/>
          <a:ln w="19050">
            <a:solidFill>
              <a:srgbClr val="A5A5A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6377940" y="2731770"/>
            <a:ext cx="514350" cy="57150"/>
          </a:xfrm>
          <a:prstGeom prst="line">
            <a:avLst/>
          </a:prstGeom>
          <a:noFill/>
          <a:ln w="19050">
            <a:solidFill>
              <a:srgbClr val="A5A5A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6892290" y="2674620"/>
            <a:ext cx="514350" cy="57150"/>
          </a:xfrm>
          <a:prstGeom prst="line">
            <a:avLst/>
          </a:prstGeom>
          <a:noFill/>
          <a:ln w="19050">
            <a:solidFill>
              <a:srgbClr val="A5A5A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406640" y="2674620"/>
            <a:ext cx="514350" cy="57150"/>
          </a:xfrm>
          <a:prstGeom prst="line">
            <a:avLst/>
          </a:prstGeom>
          <a:noFill/>
          <a:ln w="19050">
            <a:solidFill>
              <a:srgbClr val="A5A5A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920990" y="2731770"/>
            <a:ext cx="514350" cy="57150"/>
          </a:xfrm>
          <a:prstGeom prst="line">
            <a:avLst/>
          </a:prstGeom>
          <a:noFill/>
          <a:ln w="19050">
            <a:solidFill>
              <a:srgbClr val="A5A5A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892290" y="2731770"/>
            <a:ext cx="0" cy="800100"/>
          </a:xfrm>
          <a:prstGeom prst="line">
            <a:avLst/>
          </a:prstGeom>
          <a:noFill/>
          <a:ln w="19050">
            <a:solidFill>
              <a:srgbClr val="A5A5A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406640" y="2674620"/>
            <a:ext cx="0" cy="971550"/>
          </a:xfrm>
          <a:prstGeom prst="line">
            <a:avLst/>
          </a:prstGeom>
          <a:noFill/>
          <a:ln w="19050">
            <a:solidFill>
              <a:srgbClr val="A5A5A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920990" y="2731770"/>
            <a:ext cx="0" cy="800100"/>
          </a:xfrm>
          <a:prstGeom prst="line">
            <a:avLst/>
          </a:prstGeom>
          <a:noFill/>
          <a:ln w="19050">
            <a:solidFill>
              <a:srgbClr val="A5A5A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892290" y="3531870"/>
            <a:ext cx="514350" cy="114300"/>
          </a:xfrm>
          <a:prstGeom prst="line">
            <a:avLst/>
          </a:prstGeom>
          <a:noFill/>
          <a:ln w="19050">
            <a:solidFill>
              <a:srgbClr val="A5A5A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7406640" y="3531870"/>
            <a:ext cx="514350" cy="114300"/>
          </a:xfrm>
          <a:prstGeom prst="line">
            <a:avLst/>
          </a:prstGeom>
          <a:noFill/>
          <a:ln w="19050">
            <a:solidFill>
              <a:srgbClr val="A5A5A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377940" y="2788920"/>
            <a:ext cx="514350" cy="742950"/>
          </a:xfrm>
          <a:prstGeom prst="line">
            <a:avLst/>
          </a:prstGeom>
          <a:noFill/>
          <a:ln w="19050">
            <a:solidFill>
              <a:srgbClr val="A5A5A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V="1">
            <a:off x="7920990" y="2788920"/>
            <a:ext cx="514350" cy="742950"/>
          </a:xfrm>
          <a:prstGeom prst="line">
            <a:avLst/>
          </a:prstGeom>
          <a:noFill/>
          <a:ln w="19050">
            <a:solidFill>
              <a:srgbClr val="A5A5A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892290" y="2731770"/>
            <a:ext cx="514350" cy="914400"/>
          </a:xfrm>
          <a:prstGeom prst="line">
            <a:avLst/>
          </a:prstGeom>
          <a:noFill/>
          <a:ln w="19050">
            <a:solidFill>
              <a:srgbClr val="A5A5A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V="1">
            <a:off x="7406640" y="2731770"/>
            <a:ext cx="514350" cy="914400"/>
          </a:xfrm>
          <a:prstGeom prst="line">
            <a:avLst/>
          </a:prstGeom>
          <a:noFill/>
          <a:ln w="19050">
            <a:solidFill>
              <a:srgbClr val="A5A5A5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7223760" y="1805940"/>
            <a:ext cx="365760" cy="365760"/>
          </a:xfrm>
          <a:prstGeom prst="ellipse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E1</a:t>
            </a:r>
            <a:endParaRPr lang="en-US" sz="1000" dirty="0"/>
          </a:p>
        </p:txBody>
      </p:sp>
      <p:sp>
        <p:nvSpPr>
          <p:cNvPr id="82" name="Text 80"/>
          <p:cNvSpPr txBox="1"/>
          <p:nvPr/>
        </p:nvSpPr>
        <p:spPr>
          <a:xfrm>
            <a:off x="6195060" y="2606040"/>
            <a:ext cx="365760" cy="365760"/>
          </a:xfrm>
          <a:prstGeom prst="ellipse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E2</a:t>
            </a:r>
            <a:endParaRPr lang="en-US" sz="1000" dirty="0"/>
          </a:p>
        </p:txBody>
      </p:sp>
      <p:sp>
        <p:nvSpPr>
          <p:cNvPr id="83" name="Text 81"/>
          <p:cNvSpPr txBox="1"/>
          <p:nvPr/>
        </p:nvSpPr>
        <p:spPr>
          <a:xfrm>
            <a:off x="6709410" y="2548890"/>
            <a:ext cx="365760" cy="365760"/>
          </a:xfrm>
          <a:prstGeom prst="ellipse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E3</a:t>
            </a:r>
            <a:endParaRPr lang="en-US" sz="1000" dirty="0"/>
          </a:p>
        </p:txBody>
      </p:sp>
      <p:sp>
        <p:nvSpPr>
          <p:cNvPr id="84" name="Text 82"/>
          <p:cNvSpPr txBox="1"/>
          <p:nvPr/>
        </p:nvSpPr>
        <p:spPr>
          <a:xfrm>
            <a:off x="7223760" y="2491740"/>
            <a:ext cx="365760" cy="365760"/>
          </a:xfrm>
          <a:prstGeom prst="ellipse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E4</a:t>
            </a:r>
            <a:endParaRPr lang="en-US" sz="1000" dirty="0"/>
          </a:p>
        </p:txBody>
      </p:sp>
      <p:sp>
        <p:nvSpPr>
          <p:cNvPr id="85" name="Text 83"/>
          <p:cNvSpPr txBox="1"/>
          <p:nvPr/>
        </p:nvSpPr>
        <p:spPr>
          <a:xfrm>
            <a:off x="7738110" y="2548890"/>
            <a:ext cx="365760" cy="365760"/>
          </a:xfrm>
          <a:prstGeom prst="ellipse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E5</a:t>
            </a:r>
            <a:endParaRPr lang="en-US" sz="1000" dirty="0"/>
          </a:p>
        </p:txBody>
      </p:sp>
      <p:sp>
        <p:nvSpPr>
          <p:cNvPr id="86" name="Text 84"/>
          <p:cNvSpPr txBox="1"/>
          <p:nvPr/>
        </p:nvSpPr>
        <p:spPr>
          <a:xfrm>
            <a:off x="8252460" y="2606040"/>
            <a:ext cx="365760" cy="365760"/>
          </a:xfrm>
          <a:prstGeom prst="ellipse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E6</a:t>
            </a:r>
            <a:endParaRPr lang="en-US" sz="1000" dirty="0"/>
          </a:p>
        </p:txBody>
      </p:sp>
      <p:sp>
        <p:nvSpPr>
          <p:cNvPr id="87" name="Text 85"/>
          <p:cNvSpPr txBox="1"/>
          <p:nvPr/>
        </p:nvSpPr>
        <p:spPr>
          <a:xfrm>
            <a:off x="6709410" y="3348990"/>
            <a:ext cx="365760" cy="365760"/>
          </a:xfrm>
          <a:prstGeom prst="ellipse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E7</a:t>
            </a:r>
            <a:endParaRPr lang="en-US" sz="1000" dirty="0"/>
          </a:p>
        </p:txBody>
      </p:sp>
      <p:sp>
        <p:nvSpPr>
          <p:cNvPr id="88" name="Text 86"/>
          <p:cNvSpPr txBox="1"/>
          <p:nvPr/>
        </p:nvSpPr>
        <p:spPr>
          <a:xfrm>
            <a:off x="7223760" y="3463290"/>
            <a:ext cx="365760" cy="365760"/>
          </a:xfrm>
          <a:prstGeom prst="ellipse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E8</a:t>
            </a:r>
            <a:endParaRPr lang="en-US" sz="1000" dirty="0"/>
          </a:p>
        </p:txBody>
      </p:sp>
      <p:sp>
        <p:nvSpPr>
          <p:cNvPr id="89" name="Text 87"/>
          <p:cNvSpPr txBox="1"/>
          <p:nvPr/>
        </p:nvSpPr>
        <p:spPr>
          <a:xfrm>
            <a:off x="7738110" y="3348990"/>
            <a:ext cx="365760" cy="365760"/>
          </a:xfrm>
          <a:prstGeom prst="ellipse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E9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8732520" y="2788920"/>
            <a:ext cx="320040" cy="320040"/>
          </a:xfrm>
          <a:prstGeom prst="rightArrow">
            <a:avLst/>
          </a:prstGeom>
          <a:solidFill>
            <a:srgbClr val="A5A5A5"/>
          </a:solidFill>
          <a:ln w="12700">
            <a:solidFill>
              <a:srgbClr val="A5A5A5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9144000" y="2514600"/>
            <a:ext cx="1005840" cy="868680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GNN</a:t>
            </a:r>
            <a:endParaRPr lang="en-US" sz="1400" dirty="0"/>
          </a:p>
        </p:txBody>
      </p:sp>
      <p:sp>
        <p:nvSpPr>
          <p:cNvPr id="92" name="Shape 90"/>
          <p:cNvSpPr/>
          <p:nvPr/>
        </p:nvSpPr>
        <p:spPr>
          <a:xfrm>
            <a:off x="10241280" y="2788920"/>
            <a:ext cx="274320" cy="320040"/>
          </a:xfrm>
          <a:prstGeom prst="rightArrow">
            <a:avLst/>
          </a:prstGeom>
          <a:solidFill>
            <a:srgbClr val="A5A5A5"/>
          </a:solidFill>
          <a:ln w="12700">
            <a:solidFill>
              <a:srgbClr val="A5A5A5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10561320" y="2514600"/>
            <a:ext cx="914400" cy="868680"/>
          </a:xfrm>
          <a:prstGeom prst="rect">
            <a:avLst/>
          </a:prstGeom>
          <a:solidFill>
            <a:srgbClr val="ED7D31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Class</a:t>
            </a:r>
            <a:endParaRPr lang="en-US" sz="1400" dirty="0"/>
          </a:p>
        </p:txBody>
      </p:sp>
      <p:sp>
        <p:nvSpPr>
          <p:cNvPr id="94" name="Text 92"/>
          <p:cNvSpPr txBox="1"/>
          <p:nvPr/>
        </p:nvSpPr>
        <p:spPr>
          <a:xfrm>
            <a:off x="6309360" y="42062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7F7F7F"/>
                </a:solidFill>
              </a:rPr>
              <a:t>Electrodes as nodes; relationships made explicit through an adjacency matrix A</a:t>
            </a:r>
            <a:endParaRPr lang="en-US" sz="1400" dirty="0"/>
          </a:p>
        </p:txBody>
      </p:sp>
      <p:sp>
        <p:nvSpPr>
          <p:cNvPr id="95" name="Text 93"/>
          <p:cNvSpPr txBox="1"/>
          <p:nvPr/>
        </p:nvSpPr>
        <p:spPr>
          <a:xfrm>
            <a:off x="548640" y="502920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</a:rPr>
              <a:t>Reported results vary across subjects, datasets and evaluation protocols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</a:rPr>
              <a:t>Scope: offline classification study, no online BCI or hardware experiments</a:t>
            </a:r>
            <a:endParaRPr lang="en-US" sz="1800" dirty="0"/>
          </a:p>
        </p:txBody>
      </p:sp>
      <p:sp>
        <p:nvSpPr>
          <p:cNvPr id="9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2194560"/>
          </a:xfrm>
          <a:prstGeom prst="rect">
            <a:avLst/>
          </a:prstGeom>
          <a:solidFill>
            <a:srgbClr val="E9EBF5"/>
          </a:solidFill>
          <a:ln w="12700">
            <a:solidFill>
              <a:srgbClr val="E9EB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945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62626"/>
                </a:solidFill>
              </a:rPr>
              <a:t>Preprocess multichannel SSVEP EEG; prepare 0.5 s and 1.0 s windows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97680" y="1371600"/>
            <a:ext cx="3566160" cy="2194560"/>
          </a:xfrm>
          <a:prstGeom prst="rect">
            <a:avLst/>
          </a:prstGeom>
          <a:solidFill>
            <a:srgbClr val="E9EBF5"/>
          </a:solidFill>
          <a:ln w="12700">
            <a:solidFill>
              <a:srgbClr val="E9EB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80560" y="1554480"/>
            <a:ext cx="502920" cy="502920"/>
          </a:xfrm>
          <a:prstGeom prst="ellipse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21945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62626"/>
                </a:solidFill>
              </a:rPr>
              <a:t>Build a GNN classifier (GNN-Net) on an electrode graph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46720" y="1371600"/>
            <a:ext cx="3566160" cy="2194560"/>
          </a:xfrm>
          <a:prstGeom prst="rect">
            <a:avLst/>
          </a:prstGeom>
          <a:solidFill>
            <a:srgbClr val="E9EBF5"/>
          </a:solidFill>
          <a:ln w="12700">
            <a:solidFill>
              <a:srgbClr val="E9EB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0" y="1554480"/>
            <a:ext cx="502920" cy="502920"/>
          </a:xfrm>
          <a:prstGeom prst="ellipse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21945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62626"/>
                </a:solidFill>
              </a:rPr>
              <a:t>Fuse GNN output with CCA features, as in the CCA-Net framework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3566160" cy="2194560"/>
          </a:xfrm>
          <a:prstGeom prst="rect">
            <a:avLst/>
          </a:prstGeom>
          <a:solidFill>
            <a:srgbClr val="E9EBF5"/>
          </a:solidFill>
          <a:ln w="12700">
            <a:solidFill>
              <a:srgbClr val="E9EB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977640"/>
            <a:ext cx="502920" cy="502920"/>
          </a:xfrm>
          <a:prstGeom prst="ellipse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6177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62626"/>
                </a:solidFill>
              </a:rPr>
              <a:t>Compare with CNN-Net, CCA-Net, FBCCA, FBTtCCA and CCA under identical conditions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97680" y="3794760"/>
            <a:ext cx="3566160" cy="2194560"/>
          </a:xfrm>
          <a:prstGeom prst="rect">
            <a:avLst/>
          </a:prstGeom>
          <a:solidFill>
            <a:srgbClr val="E9EBF5"/>
          </a:solidFill>
          <a:ln w="12700">
            <a:solidFill>
              <a:srgbClr val="E9EB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80560" y="3977640"/>
            <a:ext cx="502920" cy="502920"/>
          </a:xfrm>
          <a:prstGeom prst="ellipse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46177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62626"/>
                </a:solidFill>
              </a:rPr>
              <a:t>Report accuracy and ITR with per-subject significance tests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46720" y="3794760"/>
            <a:ext cx="3566160" cy="2194560"/>
          </a:xfrm>
          <a:prstGeom prst="rect">
            <a:avLst/>
          </a:prstGeom>
          <a:solidFill>
            <a:srgbClr val="E9EBF5"/>
          </a:solidFill>
          <a:ln w="12700">
            <a:solidFill>
              <a:srgbClr val="E9EB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0" y="3977640"/>
            <a:ext cx="502920" cy="502920"/>
          </a:xfrm>
          <a:prstGeom prst="ellipse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6177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62626"/>
                </a:solidFill>
              </a:rPr>
              <a:t>Run adjacency ablations to see what the graph contributes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Societal Relevance and UN SDGs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2011680" cy="2103120"/>
          </a:xfrm>
          <a:prstGeom prst="rect">
            <a:avLst/>
          </a:prstGeom>
          <a:solidFill>
            <a:srgbClr val="4C9F3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SDG</a:t>
            </a:r>
            <a:endParaRPr lang="en-US" sz="1600" dirty="0"/>
          </a:p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60320" y="1463040"/>
            <a:ext cx="9052560" cy="2103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834640" y="1463040"/>
            <a:ext cx="8595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F3864"/>
                </a:solidFill>
              </a:rPr>
              <a:t>Good Health and Well-Being</a:t>
            </a:r>
            <a:endParaRPr lang="en-US" sz="2400" dirty="0"/>
          </a:p>
          <a:p>
            <a:pPr marL="0" indent="0">
              <a:buNone/>
            </a:pPr>
            <a:r>
              <a:rPr lang="en-US" sz="1800" dirty="0">
                <a:solidFill>
                  <a:srgbClr val="262626"/>
                </a:solidFill>
              </a:rPr>
              <a:t>Reliable SSVEP classification supports brain–computer interfaces for assistive and neuro-health applications.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2011680" cy="2103120"/>
          </a:xfrm>
          <a:prstGeom prst="rect">
            <a:avLst/>
          </a:prstGeom>
          <a:solidFill>
            <a:srgbClr val="F36D2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SDG</a:t>
            </a:r>
            <a:endParaRPr lang="en-US" sz="1600" dirty="0"/>
          </a:p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9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60320" y="3931920"/>
            <a:ext cx="9052560" cy="2103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34640" y="3931920"/>
            <a:ext cx="8595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F3864"/>
                </a:solidFill>
              </a:rPr>
              <a:t>Industry, Innovation and Infrastructure</a:t>
            </a:r>
            <a:endParaRPr lang="en-US" sz="2400" dirty="0"/>
          </a:p>
          <a:p>
            <a:pPr marL="0" indent="0">
              <a:buNone/>
            </a:pPr>
            <a:r>
              <a:rPr lang="en-US" sz="1800" dirty="0">
                <a:solidFill>
                  <a:srgbClr val="262626"/>
                </a:solidFill>
              </a:rPr>
              <a:t>A graph-based machine learning approach for EEG signal processing, with analysis of what the graph contributes.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Literature Review (1/2)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5440676"/>
              </p:ext>
            </p:extLst>
          </p:nvPr>
        </p:nvGraphicFramePr>
        <p:xfrm>
          <a:off x="548640" y="1371600"/>
          <a:ext cx="11064240" cy="45720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What they did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Key result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Limitation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</a:rPr>
                        <a:t>[1] Wiszniewski et al., 2025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1-s Oz signal → FFT → RBF-SVM; leave-one-subject-out on 15 subjects, 3 targets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78.49% (CCA 78.43%, harmonic 60.49%)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Single electrode; only 3 classes; marginal gain over CCA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</a:rPr>
                        <a:t>[2] Jogamine et al., 2025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LSTM on SSVEP confidence and gaze distance to classify driving direction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100% with gaze, on a 4-sample test set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Device-derived inputs, not raw EEG; tiny test set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</a:rPr>
                        <a:t>[3] Li et al., 2024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8 electrodes, FFT real + imaginary parts → CNN → SVM; 9 targets, 2-s windows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93.86% (CCA 56.44%, TRCA 82.64%, FBCCA 88.51%)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10 subjects; cross-subject test not reported; no electrode graph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</a:rPr>
                        <a:t>[4] Xie et al., 2026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Filter bank + FFT → spatial and temporal CNN → Mamba; BETA and Benchmark, 5-fold CV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89.44%, 136.09 bits/min (BETA, 2 s)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No explicit electrode graph; cross-subject not explicit; complexity not analysed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Literature Review (2/2)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6016702"/>
              </p:ext>
            </p:extLst>
          </p:nvPr>
        </p:nvGraphicFramePr>
        <p:xfrm>
          <a:off x="548640" y="1371600"/>
          <a:ext cx="11064240" cy="45720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What they did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Key result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Limitation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</a:rPr>
                        <a:t>[5] Wang et al., 2017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Benchmark dataset: 35 subjects, 64-channel EEG, 40 targets (8–15.8 Hz); FBCCA vs CCA on 9 electrodes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FBCCA peak ITR 117.75 bits/min at 1.25 s; CCA 89.89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Offline, gaze-dependent data; only CCA-family baselines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</a:rPr>
                        <a:t>[6] Wang et al., 2020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Cyclic shift trials create extra calibration samples from the test trial for TRCA; Benchmark, 9 electrodes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83.5% and 159 bits/min at 1.0 s; +9.5% over TRCA at 0.7 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Needs calibration samples per user; linear spatial filters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</a:rPr>
                        <a:t>[7] Li et al., 2023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Multi-stream dilated CNN with weight sharing and CBAM attention; Benchmark, 9 electrodes merged to one channel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79.94%, 141.57 bits/min at 1 s (text); 74.65% in its Table I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Channels merged, no electrode structure; text and table differ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</a:rPr>
                        <a:t>[8] Jayarathne et al., 2023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Energy features from 1 Hz and 2 Hz windows → shallow one-hidden-layer NN; 4 commands, 5 subjects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96.7% (16 channels); 88.3% (3 channels)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5 subjects, 6-s windows, random split; flat channel input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Research Gap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/>
        </p:nvGraphicFramePr>
        <p:xfrm>
          <a:off x="548640" y="1325880"/>
          <a:ext cx="11064240" cy="35661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[1]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Wiszniewski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[2]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Jogamine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[3]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 (2024)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[4]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Xie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[5]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Wang (2017)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[6]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Wang (2020)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[7]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 (2023)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[8]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Jayarathne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This work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</a:rPr>
                        <a:t>Multichannel EEG input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</a:rPr>
                        <a:t>No (Oz only)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</a:rPr>
                        <a:t>No (gaze)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</a:rPr>
                        <a:t>Yes (8)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</a:rPr>
                        <a:t>Yes (9)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</a:rPr>
                        <a:t>Yes (9)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</a:rPr>
                        <a:t>Merged (9)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</a:rPr>
                        <a:t>Yes (3–16)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</a:rPr>
                        <a:t>Yes (9)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</a:rPr>
                        <a:t>Explicit electrode graph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</a:rPr>
                        <a:t>Test on unseen subjects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</a:rPr>
                        <a:t>Yes (LOSO)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</a:rPr>
                        <a:t>Not reported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</a:rPr>
                        <a:t>Not reported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</a:rPr>
                        <a:t>Not reported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</a:rPr>
                        <a:t>Training-free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</a:rPr>
                        <a:t>No (calibration)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</a:rPr>
                        <a:t>Not reported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</a:rPr>
                        <a:t>No (random split)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</a:rPr>
                        <a:t>[confirm]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</a:rPr>
                        <a:t>Dataset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</a:rPr>
                        <a:t>15 subjects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</a:rPr>
                        <a:t>Small test set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</a:rPr>
                        <a:t>10 subjects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</a:rPr>
                        <a:t>BETA, Benchmark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</a:rPr>
                        <a:t>Benchmark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</a:rPr>
                        <a:t>Benchmark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</a:rPr>
                        <a:t>Benchmark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</a:rPr>
                        <a:t>5 subjects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</a:rPr>
                        <a:t>Benchmark (35)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029200"/>
            <a:ext cx="11064240" cy="777240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No reviewed work models electrodes explicitly as a graph, and protocols differ, so reported accuracies are not directly comparable.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897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7F7F"/>
                </a:solidFill>
              </a:rPr>
              <a:t>[9] CCA-Net: add citation and result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System Overview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1463040"/>
            <a:ext cx="1554480" cy="1097280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Multichannel EEG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(9 occipital electrodes)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002536" y="1874520"/>
            <a:ext cx="292608" cy="310896"/>
          </a:xfrm>
          <a:prstGeom prst="rightArrow">
            <a:avLst/>
          </a:prstGeom>
          <a:solidFill>
            <a:srgbClr val="A5A5A5"/>
          </a:solidFill>
          <a:ln w="12700">
            <a:solidFill>
              <a:srgbClr val="A5A5A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31720" y="1463040"/>
            <a:ext cx="1554480" cy="1097280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Preprocessing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922776" y="1874520"/>
            <a:ext cx="292608" cy="310896"/>
          </a:xfrm>
          <a:prstGeom prst="rightArrow">
            <a:avLst/>
          </a:prstGeom>
          <a:solidFill>
            <a:srgbClr val="A5A5A5"/>
          </a:solidFill>
          <a:ln w="12700">
            <a:solidFill>
              <a:srgbClr val="A5A5A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51960" y="1463040"/>
            <a:ext cx="1554480" cy="1097280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Electrode graph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(9 nodes, adjacency A)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43016" y="1874520"/>
            <a:ext cx="292608" cy="310896"/>
          </a:xfrm>
          <a:prstGeom prst="rightArrow">
            <a:avLst/>
          </a:prstGeom>
          <a:solidFill>
            <a:srgbClr val="A5A5A5"/>
          </a:solidFill>
          <a:ln w="12700">
            <a:solidFill>
              <a:srgbClr val="A5A5A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72200" y="1463040"/>
            <a:ext cx="1554480" cy="1097280"/>
          </a:xfrm>
          <a:prstGeom prst="rect">
            <a:avLst/>
          </a:prstGeom>
          <a:solidFill>
            <a:srgbClr val="ED7D31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GNN-Net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(GCN layers)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63256" y="1874520"/>
            <a:ext cx="292608" cy="310896"/>
          </a:xfrm>
          <a:prstGeom prst="rightArrow">
            <a:avLst/>
          </a:prstGeom>
          <a:solidFill>
            <a:srgbClr val="A5A5A5"/>
          </a:solidFill>
          <a:ln w="12700">
            <a:solidFill>
              <a:srgbClr val="A5A5A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92440" y="1463040"/>
            <a:ext cx="1554480" cy="1097280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Fusion with CCA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(fuse4 / full)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683496" y="1874520"/>
            <a:ext cx="292608" cy="310896"/>
          </a:xfrm>
          <a:prstGeom prst="rightArrow">
            <a:avLst/>
          </a:prstGeom>
          <a:solidFill>
            <a:srgbClr val="A5A5A5"/>
          </a:solidFill>
          <a:ln w="12700">
            <a:solidFill>
              <a:srgbClr val="A5A5A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12680" y="1463040"/>
            <a:ext cx="1554480" cy="1097280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Class output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(target prediction)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3657600"/>
            <a:ext cx="1554480" cy="1005840"/>
          </a:xfrm>
          <a:prstGeom prst="rect">
            <a:avLst/>
          </a:prstGeom>
          <a:solidFill>
            <a:srgbClr val="7F7F7F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CCA features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(correlations)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732520" y="2743200"/>
            <a:ext cx="274320" cy="822960"/>
          </a:xfrm>
          <a:prstGeom prst="upArrow">
            <a:avLst/>
          </a:prstGeom>
          <a:solidFill>
            <a:srgbClr val="A5A5A5"/>
          </a:solidFill>
          <a:ln w="12700">
            <a:solidFill>
              <a:srgbClr val="A5A5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08960" y="2560320"/>
            <a:ext cx="0" cy="1600200"/>
          </a:xfrm>
          <a:prstGeom prst="line">
            <a:avLst/>
          </a:prstGeom>
          <a:noFill/>
          <a:ln w="25400">
            <a:solidFill>
              <a:srgbClr val="A5A5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08960" y="4160520"/>
            <a:ext cx="4937760" cy="0"/>
          </a:xfrm>
          <a:prstGeom prst="line">
            <a:avLst/>
          </a:prstGeom>
          <a:noFill/>
          <a:ln w="25400">
            <a:solidFill>
              <a:srgbClr val="A5A5A5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420624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F7F7F"/>
                </a:solidFill>
              </a:rPr>
              <a:t>same EEG window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02920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</a:rPr>
              <a:t>GNN-Net replaces the CNN inside the CCA-Net fusion framework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</a:rPr>
              <a:t>The rest of the framework is unchanged, so the comparison is fair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Electrode Graph Representation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383280" y="1490472"/>
            <a:ext cx="0" cy="1261872"/>
          </a:xfrm>
          <a:prstGeom prst="line">
            <a:avLst/>
          </a:prstGeom>
          <a:noFill/>
          <a:ln w="19050">
            <a:solidFill>
              <a:srgbClr val="A5A5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2436876" y="1490472"/>
            <a:ext cx="946404" cy="1367028"/>
          </a:xfrm>
          <a:prstGeom prst="line">
            <a:avLst/>
          </a:prstGeom>
          <a:noFill/>
          <a:ln w="19050">
            <a:solidFill>
              <a:srgbClr val="A5A5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1490472"/>
            <a:ext cx="946404" cy="1367028"/>
          </a:xfrm>
          <a:prstGeom prst="line">
            <a:avLst/>
          </a:prstGeom>
          <a:noFill/>
          <a:ln w="19050">
            <a:solidFill>
              <a:srgbClr val="A5A5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490472" y="2857500"/>
            <a:ext cx="946404" cy="105156"/>
          </a:xfrm>
          <a:prstGeom prst="line">
            <a:avLst/>
          </a:prstGeom>
          <a:noFill/>
          <a:ln w="19050">
            <a:solidFill>
              <a:srgbClr val="A5A5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436876" y="2752344"/>
            <a:ext cx="946404" cy="105156"/>
          </a:xfrm>
          <a:prstGeom prst="line">
            <a:avLst/>
          </a:prstGeom>
          <a:noFill/>
          <a:ln w="19050">
            <a:solidFill>
              <a:srgbClr val="A5A5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0" y="2752344"/>
            <a:ext cx="946404" cy="105156"/>
          </a:xfrm>
          <a:prstGeom prst="line">
            <a:avLst/>
          </a:prstGeom>
          <a:noFill/>
          <a:ln w="19050">
            <a:solidFill>
              <a:srgbClr val="A5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29684" y="2857500"/>
            <a:ext cx="946404" cy="105156"/>
          </a:xfrm>
          <a:prstGeom prst="line">
            <a:avLst/>
          </a:prstGeom>
          <a:noFill/>
          <a:ln w="19050">
            <a:solidFill>
              <a:srgbClr val="A5A5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36876" y="2857500"/>
            <a:ext cx="0" cy="1472184"/>
          </a:xfrm>
          <a:prstGeom prst="line">
            <a:avLst/>
          </a:prstGeom>
          <a:noFill/>
          <a:ln w="19050">
            <a:solidFill>
              <a:srgbClr val="A5A5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2752344"/>
            <a:ext cx="0" cy="1787652"/>
          </a:xfrm>
          <a:prstGeom prst="line">
            <a:avLst/>
          </a:prstGeom>
          <a:noFill/>
          <a:ln w="19050">
            <a:solidFill>
              <a:srgbClr val="A5A5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9684" y="2857500"/>
            <a:ext cx="0" cy="1472184"/>
          </a:xfrm>
          <a:prstGeom prst="line">
            <a:avLst/>
          </a:prstGeom>
          <a:noFill/>
          <a:ln w="19050">
            <a:solidFill>
              <a:srgbClr val="A5A5A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36876" y="4329684"/>
            <a:ext cx="946404" cy="210312"/>
          </a:xfrm>
          <a:prstGeom prst="line">
            <a:avLst/>
          </a:prstGeom>
          <a:noFill/>
          <a:ln w="19050">
            <a:solidFill>
              <a:srgbClr val="A5A5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3383280" y="4329684"/>
            <a:ext cx="946404" cy="210312"/>
          </a:xfrm>
          <a:prstGeom prst="line">
            <a:avLst/>
          </a:prstGeom>
          <a:noFill/>
          <a:ln w="19050">
            <a:solidFill>
              <a:srgbClr val="A5A5A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90472" y="2962656"/>
            <a:ext cx="946404" cy="1367028"/>
          </a:xfrm>
          <a:prstGeom prst="line">
            <a:avLst/>
          </a:prstGeom>
          <a:noFill/>
          <a:ln w="19050">
            <a:solidFill>
              <a:srgbClr val="A5A5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4329684" y="2962656"/>
            <a:ext cx="946404" cy="1367028"/>
          </a:xfrm>
          <a:prstGeom prst="line">
            <a:avLst/>
          </a:prstGeom>
          <a:noFill/>
          <a:ln w="19050">
            <a:solidFill>
              <a:srgbClr val="A5A5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36876" y="2857500"/>
            <a:ext cx="946404" cy="1682496"/>
          </a:xfrm>
          <a:prstGeom prst="line">
            <a:avLst/>
          </a:prstGeom>
          <a:noFill/>
          <a:ln w="19050">
            <a:solidFill>
              <a:srgbClr val="A5A5A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383280" y="2857500"/>
            <a:ext cx="946404" cy="1682496"/>
          </a:xfrm>
          <a:prstGeom prst="line">
            <a:avLst/>
          </a:prstGeom>
          <a:noFill/>
          <a:ln w="19050">
            <a:solidFill>
              <a:srgbClr val="A5A5A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31820" y="1239012"/>
            <a:ext cx="502920" cy="502920"/>
          </a:xfrm>
          <a:prstGeom prst="ellipse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E1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239012" y="2711196"/>
            <a:ext cx="502920" cy="502920"/>
          </a:xfrm>
          <a:prstGeom prst="ellipse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185416" y="2606040"/>
            <a:ext cx="502920" cy="502920"/>
          </a:xfrm>
          <a:prstGeom prst="ellipse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131820" y="2500884"/>
            <a:ext cx="502920" cy="502920"/>
          </a:xfrm>
          <a:prstGeom prst="ellipse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078224" y="2606040"/>
            <a:ext cx="502920" cy="502920"/>
          </a:xfrm>
          <a:prstGeom prst="ellipse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024628" y="2711196"/>
            <a:ext cx="502920" cy="502920"/>
          </a:xfrm>
          <a:prstGeom prst="ellipse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E6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185416" y="4078224"/>
            <a:ext cx="502920" cy="502920"/>
          </a:xfrm>
          <a:prstGeom prst="ellipse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E7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131820" y="4288536"/>
            <a:ext cx="502920" cy="502920"/>
          </a:xfrm>
          <a:prstGeom prst="ellipse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E8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078224" y="4078224"/>
            <a:ext cx="502920" cy="502920"/>
          </a:xfrm>
          <a:prstGeom prst="ellipse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E9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7607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F7F7F"/>
                </a:solidFill>
              </a:rPr>
              <a:t>Illustrative layout; replace E1–E9 with your channel names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155448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Nodes: the 9 occipital electrodes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Node features: derived from each electrode signal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Edges: weights in the 9 × 9 adjacency matrix 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GCN layers combine each node with its neighbours using 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Ablation: identity, uniform, anatomical and learned A</a:t>
            </a:r>
            <a:endParaRPr lang="en-US" sz="20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51760" cy="2194560"/>
          </a:xfrm>
          <a:prstGeom prst="rect">
            <a:avLst/>
          </a:prstGeom>
          <a:solidFill>
            <a:srgbClr val="E9EBF5"/>
          </a:solidFill>
          <a:ln w="12700">
            <a:solidFill>
              <a:srgbClr val="E9EB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945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</a:rPr>
              <a:t>Load EEG epochs of the 35 subjects; select the 9 occipital electrodes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37560" y="1371600"/>
            <a:ext cx="2651760" cy="2194560"/>
          </a:xfrm>
          <a:prstGeom prst="rect">
            <a:avLst/>
          </a:prstGeom>
          <a:solidFill>
            <a:srgbClr val="E9EBF5"/>
          </a:solidFill>
          <a:ln w="12700">
            <a:solidFill>
              <a:srgbClr val="E9EB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554480"/>
            <a:ext cx="502920" cy="502920"/>
          </a:xfrm>
          <a:prstGeom prst="ellipse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1945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</a:rPr>
              <a:t>Preprocess; cut windows of 0.5 s and 1.0 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651760" cy="2194560"/>
          </a:xfrm>
          <a:prstGeom prst="rect">
            <a:avLst/>
          </a:prstGeom>
          <a:solidFill>
            <a:srgbClr val="E9EBF5"/>
          </a:solidFill>
          <a:ln w="12700">
            <a:solidFill>
              <a:srgbClr val="E9EB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554480"/>
            <a:ext cx="502920" cy="502920"/>
          </a:xfrm>
          <a:prstGeom prst="ellipse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1945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</a:rPr>
              <a:t>Build node features from each electrode signal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15400" y="1371600"/>
            <a:ext cx="2651760" cy="2194560"/>
          </a:xfrm>
          <a:prstGeom prst="rect">
            <a:avLst/>
          </a:prstGeom>
          <a:solidFill>
            <a:srgbClr val="E9EBF5"/>
          </a:solidFill>
          <a:ln w="12700">
            <a:solidFill>
              <a:srgbClr val="E9EB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98280" y="1554480"/>
            <a:ext cx="502920" cy="502920"/>
          </a:xfrm>
          <a:prstGeom prst="ellipse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21945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</a:rPr>
              <a:t>Pass node features through GCN layers using adjacency 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2651760" cy="2194560"/>
          </a:xfrm>
          <a:prstGeom prst="rect">
            <a:avLst/>
          </a:prstGeom>
          <a:solidFill>
            <a:srgbClr val="E9EBF5"/>
          </a:solidFill>
          <a:ln w="12700">
            <a:solidFill>
              <a:srgbClr val="E9EB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931920"/>
            <a:ext cx="502920" cy="502920"/>
          </a:xfrm>
          <a:prstGeom prst="ellipse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5720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</a:rPr>
              <a:t>Aggregate node features into class scores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37560" y="3749040"/>
            <a:ext cx="2651760" cy="2194560"/>
          </a:xfrm>
          <a:prstGeom prst="rect">
            <a:avLst/>
          </a:prstGeom>
          <a:solidFill>
            <a:srgbClr val="E9EBF5"/>
          </a:solidFill>
          <a:ln w="12700">
            <a:solidFill>
              <a:srgbClr val="E9EB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20440" y="3931920"/>
            <a:ext cx="502920" cy="502920"/>
          </a:xfrm>
          <a:prstGeom prst="ellipse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3520440" y="45720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</a:rPr>
              <a:t>Compute CCA correlation features for the same window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26480" y="3749040"/>
            <a:ext cx="2651760" cy="2194560"/>
          </a:xfrm>
          <a:prstGeom prst="rect">
            <a:avLst/>
          </a:prstGeom>
          <a:solidFill>
            <a:srgbClr val="E9EBF5"/>
          </a:solidFill>
          <a:ln w="12700">
            <a:solidFill>
              <a:srgbClr val="E9EB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09360" y="3931920"/>
            <a:ext cx="502920" cy="502920"/>
          </a:xfrm>
          <a:prstGeom prst="ellipse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45720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</a:rPr>
              <a:t>Fuse network output with CCA features to predict the target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915400" y="3749040"/>
            <a:ext cx="2651760" cy="2194560"/>
          </a:xfrm>
          <a:prstGeom prst="rect">
            <a:avLst/>
          </a:prstGeom>
          <a:solidFill>
            <a:srgbClr val="E9EBF5"/>
          </a:solidFill>
          <a:ln w="12700">
            <a:solidFill>
              <a:srgbClr val="E9EBF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098280" y="3931920"/>
            <a:ext cx="502920" cy="502920"/>
          </a:xfrm>
          <a:prstGeom prst="ellipse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8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098280" y="45720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</a:rPr>
              <a:t>Evaluate accuracy and ITR per subject; test significance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and Experimental Setup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395304"/>
              </p:ext>
            </p:extLst>
          </p:nvPr>
        </p:nvGraphicFramePr>
        <p:xfrm>
          <a:off x="548640" y="1371600"/>
          <a:ext cx="11064240" cy="45720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Setting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62626"/>
                          </a:solidFill>
                        </a:rPr>
                        <a:t>Architecture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GNN-Net: GCN layers over 9 electrode nodes, learned 9 × 9 adjacency (G2)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62626"/>
                          </a:solidFill>
                        </a:rPr>
                        <a:t>Baselines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CNN-Net, CCA-Net (replication), FBCCA, FBTtCCA, CCA (f2+f3)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62626"/>
                          </a:solidFill>
                        </a:rPr>
                        <a:t>Fusion variants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fuse4 and full (network output + CCA features)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62626"/>
                          </a:solidFill>
                        </a:rPr>
                        <a:t>Input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9 occipital electrodes; windows of 0.5 s and 1.0 s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62626"/>
                          </a:solidFill>
                        </a:rPr>
                        <a:t>Subjects / seed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35 subjects; seed 41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62626"/>
                          </a:solidFill>
                        </a:rPr>
                        <a:t>Metrics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Accuracy and ITR (bits/min); per-subject significance tests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62626"/>
                          </a:solidFill>
                        </a:rPr>
                        <a:t>Optimiser, epochs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100 for each subject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62626"/>
                          </a:solidFill>
                        </a:rPr>
                        <a:t>Hardware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Nil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62626"/>
                          </a:solidFill>
                        </a:rPr>
                        <a:t>Code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zs_gnn_v2c.py (GNN-Net), zs_gnn_v2d.py (ablations)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Ablation Design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22860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Variant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Adjacency A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Question it answers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62626"/>
                          </a:solidFill>
                        </a:rPr>
                        <a:t>G2-learned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Learned 9 × 9 parameter matrix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Baseline GNN-Net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62626"/>
                          </a:solidFill>
                        </a:rPr>
                        <a:t>G2-identity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A = I/9 (each node only sees itself)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Does message passing between electrodes help at all?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62626"/>
                          </a:solidFill>
                        </a:rPr>
                        <a:t>G2-uniform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A = 1/9 everywhere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Does the specific topology matter, or does any mixing help?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62626"/>
                          </a:solidFill>
                        </a:rPr>
                        <a:t>G2-anatomical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Fixed from physical electrode distances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Does an anatomy-based prior beat a learned graph?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914400" y="3840480"/>
            <a:ext cx="169164" cy="169164"/>
          </a:xfrm>
          <a:prstGeom prst="rect">
            <a:avLst/>
          </a:prstGeom>
          <a:solidFill>
            <a:srgbClr val="4472C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97280" y="384048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80160" y="384048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63040" y="384048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645920" y="384048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828800" y="384048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011680" y="384048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94560" y="384048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" name="Shape 9"/>
          <p:cNvSpPr/>
          <p:nvPr/>
        </p:nvSpPr>
        <p:spPr>
          <a:xfrm>
            <a:off x="2377440" y="384048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4400" y="402336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97280" y="4023360"/>
            <a:ext cx="169164" cy="169164"/>
          </a:xfrm>
          <a:prstGeom prst="rect">
            <a:avLst/>
          </a:prstGeom>
          <a:solidFill>
            <a:srgbClr val="4472C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280160" y="402336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63040" y="402336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645920" y="402336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828800" y="402336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011680" y="402336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194560" y="402336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377440" y="402336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14400" y="420624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97280" y="420624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280160" y="4206240"/>
            <a:ext cx="169164" cy="169164"/>
          </a:xfrm>
          <a:prstGeom prst="rect">
            <a:avLst/>
          </a:prstGeom>
          <a:solidFill>
            <a:srgbClr val="4472C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463040" y="420624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645920" y="420624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28800" y="420624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011680" y="420624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194560" y="420624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377440" y="420624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14400" y="438912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97280" y="438912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280160" y="438912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463040" y="4389120"/>
            <a:ext cx="169164" cy="169164"/>
          </a:xfrm>
          <a:prstGeom prst="rect">
            <a:avLst/>
          </a:prstGeom>
          <a:solidFill>
            <a:srgbClr val="4472C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645920" y="438912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828800" y="438912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011680" y="438912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194560" y="438912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377440" y="438912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14400" y="457200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097280" y="457200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280160" y="457200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463040" y="457200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645920" y="4572000"/>
            <a:ext cx="169164" cy="169164"/>
          </a:xfrm>
          <a:prstGeom prst="rect">
            <a:avLst/>
          </a:prstGeom>
          <a:solidFill>
            <a:srgbClr val="4472C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828800" y="457200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011680" y="457200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194560" y="457200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377440" y="457200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914400" y="475488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097280" y="475488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280160" y="475488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463040" y="475488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645920" y="475488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828800" y="4754880"/>
            <a:ext cx="169164" cy="169164"/>
          </a:xfrm>
          <a:prstGeom prst="rect">
            <a:avLst/>
          </a:prstGeom>
          <a:solidFill>
            <a:srgbClr val="4472C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011680" y="475488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194560" y="475488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377440" y="475488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914400" y="493776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1097280" y="493776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1280160" y="493776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1463040" y="493776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645920" y="493776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1828800" y="493776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2011680" y="4937760"/>
            <a:ext cx="169164" cy="169164"/>
          </a:xfrm>
          <a:prstGeom prst="rect">
            <a:avLst/>
          </a:prstGeom>
          <a:solidFill>
            <a:srgbClr val="4472C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2194560" y="493776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2377440" y="493776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914400" y="512064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1097280" y="512064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1280160" y="512064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1463040" y="512064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1645920" y="512064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1828800" y="512064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2011680" y="512064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2194560" y="5120640"/>
            <a:ext cx="169164" cy="169164"/>
          </a:xfrm>
          <a:prstGeom prst="rect">
            <a:avLst/>
          </a:prstGeom>
          <a:solidFill>
            <a:srgbClr val="4472C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2377440" y="512064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914400" y="530352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1097280" y="530352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1280160" y="530352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1463040" y="530352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1645920" y="530352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1828800" y="530352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2011680" y="530352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2194560" y="5303520"/>
            <a:ext cx="169164" cy="16916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2377440" y="5303520"/>
            <a:ext cx="169164" cy="169164"/>
          </a:xfrm>
          <a:prstGeom prst="rect">
            <a:avLst/>
          </a:prstGeom>
          <a:solidFill>
            <a:srgbClr val="4472C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4754880" y="384048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4937760" y="384048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5120640" y="384048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5303520" y="384048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5486400" y="384048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5669280" y="384048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5852160" y="384048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6035040" y="384048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6217920" y="384048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4754880" y="402336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4937760" y="402336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5120640" y="402336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5303520" y="402336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5486400" y="402336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5669280" y="402336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5852160" y="402336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6035040" y="402336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6217920" y="402336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4754880" y="420624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4937760" y="420624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5120640" y="420624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5303520" y="420624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5486400" y="420624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5669280" y="420624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5852160" y="420624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6035040" y="420624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6217920" y="420624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4754880" y="438912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4937760" y="438912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5120640" y="438912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5303520" y="438912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5486400" y="438912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5669280" y="438912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5852160" y="438912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6035040" y="438912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6217920" y="438912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4754880" y="457200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4937760" y="457200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5120640" y="457200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5303520" y="457200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5486400" y="457200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5669280" y="457200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5852160" y="457200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6035040" y="457200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6217920" y="457200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4754880" y="475488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4937760" y="475488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5120640" y="475488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5303520" y="475488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5486400" y="475488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5669280" y="475488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5852160" y="475488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6035040" y="475488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6217920" y="475488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4754880" y="493776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4937760" y="493776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5120640" y="493776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5303520" y="493776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5486400" y="493776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5669280" y="493776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5852160" y="493776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6035040" y="493776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6217920" y="493776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4754880" y="512064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4937760" y="512064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5120640" y="512064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5303520" y="512064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5486400" y="512064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5669280" y="512064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852160" y="512064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6035040" y="512064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6217920" y="512064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4754880" y="530352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4937760" y="530352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5120640" y="530352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5303520" y="530352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5486400" y="530352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5669280" y="530352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5852160" y="530352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6035040" y="530352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6217920" y="5303520"/>
            <a:ext cx="169164" cy="169164"/>
          </a:xfrm>
          <a:prstGeom prst="rect">
            <a:avLst/>
          </a:prstGeom>
          <a:solidFill>
            <a:srgbClr val="BECEEA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8595360" y="3840480"/>
            <a:ext cx="164592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7F7F7F"/>
            </a:solidFill>
            <a:prstDash val="dash"/>
          </a:ln>
        </p:spPr>
      </p:sp>
      <p:sp>
        <p:nvSpPr>
          <p:cNvPr id="167" name="Text 164"/>
          <p:cNvSpPr txBox="1"/>
          <p:nvPr/>
        </p:nvSpPr>
        <p:spPr>
          <a:xfrm>
            <a:off x="8595360" y="3840480"/>
            <a:ext cx="1645920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F7F7F"/>
                </a:solidFill>
              </a:rPr>
              <a:t>Add heatmap of your learned A</a:t>
            </a:r>
            <a:endParaRPr lang="en-US" sz="1200" dirty="0"/>
          </a:p>
        </p:txBody>
      </p:sp>
      <p:sp>
        <p:nvSpPr>
          <p:cNvPr id="168" name="Text 165"/>
          <p:cNvSpPr txBox="1"/>
          <p:nvPr/>
        </p:nvSpPr>
        <p:spPr>
          <a:xfrm>
            <a:off x="640080" y="5577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</a:rPr>
              <a:t>Identity (A = I/9)</a:t>
            </a:r>
            <a:endParaRPr lang="en-US" sz="1300" dirty="0"/>
          </a:p>
        </p:txBody>
      </p:sp>
      <p:sp>
        <p:nvSpPr>
          <p:cNvPr id="169" name="Text 166"/>
          <p:cNvSpPr txBox="1"/>
          <p:nvPr/>
        </p:nvSpPr>
        <p:spPr>
          <a:xfrm>
            <a:off x="4480560" y="5577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</a:rPr>
              <a:t>Uniform (A = 1/9)</a:t>
            </a:r>
            <a:endParaRPr lang="en-US" sz="1300" dirty="0"/>
          </a:p>
        </p:txBody>
      </p:sp>
      <p:sp>
        <p:nvSpPr>
          <p:cNvPr id="170" name="Text 167"/>
          <p:cNvSpPr txBox="1"/>
          <p:nvPr/>
        </p:nvSpPr>
        <p:spPr>
          <a:xfrm>
            <a:off x="8321040" y="5577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</a:rPr>
              <a:t>Learned</a:t>
            </a:r>
            <a:endParaRPr lang="en-US" sz="1300" dirty="0"/>
          </a:p>
        </p:txBody>
      </p:sp>
      <p:sp>
        <p:nvSpPr>
          <p:cNvPr id="17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Results: Accuracy and ITR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4517136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0.5 s Acc (%)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0.5 s ITR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1.0 s Acc (%)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1.0 s ITR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</a:rPr>
                        <a:t>FBCCA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20.64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26.62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63.49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103.48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</a:rPr>
                        <a:t>FBTtCCA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39.15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75.35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77.71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141.30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</a:rPr>
                        <a:t>CNN-Net alone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41.54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84.50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68.32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117.55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</a:rPr>
                        <a:t>GNN-Net alone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32.56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57.28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66.98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112.32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</a:rPr>
                        <a:t>CCA only (f2+f3)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43.96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90.39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80.77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150.09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</a:rPr>
                        <a:t>CNN-Net + CCA (fuse4)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51.65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114.59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82.31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154.62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</a:rPr>
                        <a:t>GNN-Net + CCA (fuse4)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48.77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104.38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83.19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156.57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</a:rPr>
                        <a:t>CNN-Net + CCA (full)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51.86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115.47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83.39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157.71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</a:rPr>
                        <a:t>GNN-Net + CCA (full)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48.95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105.18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84.06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158.93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</a:rPr>
                        <a:t>CCA-Net replication (fuse4)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51.95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115.32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82.48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154.91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</a:rPr>
                        <a:t>CNN (CSDuDoFN), published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42.80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70.10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</a:rPr>
                        <a:t>CCA-Net, published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54.30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84.00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7F7F"/>
                </a:solidFill>
              </a:rPr>
              <a:t>Our runs: seed 41, 35 subjects. ITR in bits/min; published ITR not reported.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Results at a Glance (1.0 s Window)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606040" cy="10058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26060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83.2–84.1%</a:t>
            </a:r>
            <a:endParaRPr lang="en-US" sz="28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Fused GNN-Net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355848" y="1280160"/>
            <a:ext cx="2606040" cy="10058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355848" y="1280160"/>
            <a:ext cx="26060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82.3–83.4%</a:t>
            </a:r>
            <a:endParaRPr lang="en-US" sz="28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Fused CNN-Net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163056" y="1280160"/>
            <a:ext cx="2606040" cy="1005840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63056" y="1280160"/>
            <a:ext cx="26060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84.0%</a:t>
            </a:r>
            <a:endParaRPr lang="en-US" sz="28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Published CCA-Net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8970264" y="1280160"/>
            <a:ext cx="2606040" cy="1005840"/>
          </a:xfrm>
          <a:prstGeom prst="rect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70264" y="1280160"/>
            <a:ext cx="26060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35</a:t>
            </a:r>
            <a:endParaRPr lang="en-US" sz="28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Subjects</a:t>
            </a:r>
            <a:endParaRPr lang="en-US" sz="28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2468880"/>
          <a:ext cx="75895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8229600" y="2651760"/>
            <a:ext cx="3474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</a:rPr>
              <a:t>Orange = GNN variants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</a:rPr>
              <a:t>Fused GNN-Net and CNN-Net are statistically equivalent (p = 0.787, 0.593)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</a:rPr>
              <a:t>Within about 1 point of the published CCA-Net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</a:rPr>
              <a:t>GNN-Net alone does not beat CNN-Net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Effect of Window Length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280160"/>
          <a:ext cx="1124712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7F7F"/>
                </a:solidFill>
              </a:rPr>
              <a:t>Fused rows are the fuse4 variants. At 0.5 s the CNN-based models are ahead (p &lt; 0.001); at 1.0 s the gap closes.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Information Transfer Rate at 1.0 s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280160"/>
          <a:ext cx="1124712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7F7F"/>
                </a:solidFill>
              </a:rPr>
              <a:t>Orange = GNN variants. Fused rows are the fuse4 variants.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Our Results vs Published Papers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365760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Ours 0.5 s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Paper 0.5 s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Diff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Ours 1.0 s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Paper 1.0 s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Diff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62626"/>
                          </a:solidFill>
                        </a:rPr>
                        <a:t>CNN-Net alone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41.54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42.8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00000"/>
                          </a:solidFill>
                        </a:rPr>
                        <a:t>−1.26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68.32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70.1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00000"/>
                          </a:solidFill>
                        </a:rPr>
                        <a:t>−1.78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62626"/>
                          </a:solidFill>
                        </a:rPr>
                        <a:t>GNN-Net alone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32.56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42.8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00000"/>
                          </a:solidFill>
                        </a:rPr>
                        <a:t>−10.24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66.98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70.1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00000"/>
                          </a:solidFill>
                        </a:rPr>
                        <a:t>−3.12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62626"/>
                          </a:solidFill>
                        </a:rPr>
                        <a:t>CNN-Net + CCA (fuse4)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51.65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54.3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00000"/>
                          </a:solidFill>
                        </a:rPr>
                        <a:t>−2.65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82.31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84.0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00000"/>
                          </a:solidFill>
                        </a:rPr>
                        <a:t>−1.69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62626"/>
                          </a:solidFill>
                        </a:rPr>
                        <a:t>GNN-Net + CCA (fuse4)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48.77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54.3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00000"/>
                          </a:solidFill>
                        </a:rPr>
                        <a:t>−5.53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83.19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84.0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00000"/>
                          </a:solidFill>
                        </a:rPr>
                        <a:t>−0.81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62626"/>
                          </a:solidFill>
                        </a:rPr>
                        <a:t>CNN-Net + CCA (full)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51.86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54.3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00000"/>
                          </a:solidFill>
                        </a:rPr>
                        <a:t>−2.44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83.39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84.0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00000"/>
                          </a:solidFill>
                        </a:rPr>
                        <a:t>−0.61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62626"/>
                          </a:solidFill>
                        </a:rPr>
                        <a:t>GNN-Net + CCA (full)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48.95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54.3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00000"/>
                          </a:solidFill>
                        </a:rPr>
                        <a:t>−5.35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84.06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84.0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7B34"/>
                          </a:solidFill>
                        </a:rPr>
                        <a:t>+0.06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62626"/>
                          </a:solidFill>
                        </a:rPr>
                        <a:t>CCA-Net replication (fuse4)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51.95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54.3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00000"/>
                          </a:solidFill>
                        </a:rPr>
                        <a:t>−2.35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82.48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84.0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00000"/>
                          </a:solidFill>
                        </a:rPr>
                        <a:t>−1.52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212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7F7F"/>
                </a:solidFill>
              </a:rPr>
              <a:t>Accuracy (%). Paper = published CSDuDoFN CNN for the "alone" rows and published CCA-Net for the fused rows. Diff = ours minus paper.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Our Results vs Published Papers: Graph</a:t>
            </a:r>
            <a:endParaRPr lang="en-US" sz="3200" dirty="0"/>
          </a:p>
        </p:txBody>
      </p:sp>
      <p:pic>
        <p:nvPicPr>
          <p:cNvPr id="3" name="Image 0" descr="/mnt/user-data/outputs/results_vs_pap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11064240" cy="43525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760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7F7F"/>
                </a:solidFill>
              </a:rPr>
              <a:t>Dashed lines mark the published CCA-Net and CNN accuracies. At 1.0 s the fused GNN models are within about 1 point of the paper.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Difference from the Published Papers (1.0 s)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280160"/>
          <a:ext cx="112471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52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7F7F"/>
                </a:solidFill>
              </a:rPr>
              <a:t>"Alone" rows are compared with the published CSDuDoFN CNN (70.1%); fused rows with the published CCA-Net (84.0%). Orange = GNN variants.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Graph Ablation Results (1.0 s)</a:t>
            </a:r>
            <a:endParaRPr lang="en-US" sz="3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309360" cy="3200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Variant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Adjacency A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Accuracy (std)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vs learned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</a:rPr>
                        <a:t>Identity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Self only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59.87% (20.1)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−7.1 pts, p &lt; 0.001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</a:rPr>
                        <a:t>Anatomical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Electrode distances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62.77% (20.6)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−4.2 pts, p &lt; 0.001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</a:rPr>
                        <a:t>Learned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Learned 9 × 9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66.98% (20.7)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</a:rPr>
                        <a:t>Uniform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Equal average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67.25% (20.7)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+0.3 pts, p = 0.367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Chart 0"/>
          <p:cNvGraphicFramePr/>
          <p:nvPr/>
        </p:nvGraphicFramePr>
        <p:xfrm>
          <a:off x="7040880" y="1280160"/>
          <a:ext cx="46634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760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7F7F"/>
                </a:solidFill>
              </a:rPr>
              <a:t>Value axis starts at 50%. Std is across subjects.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Findings and Caveats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303520" cy="548640"/>
          </a:xfrm>
          <a:prstGeom prst="rect">
            <a:avLst/>
          </a:prstGeom>
          <a:solidFill>
            <a:srgbClr val="54823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the results show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03520" cy="31089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</a:rPr>
              <a:t>Fused GNN-Net and CNN-Net are statistically equivalent at 1.0 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</a:rPr>
              <a:t>Both are within about 1 point of the published CCA-Net (84.0%)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</a:rPr>
              <a:t>Electrode mixing is necessary: identity A loses 7.1 points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</a:rPr>
              <a:t>Learned topology is no better than uniform averaging (p = 0.367)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325880"/>
            <a:ext cx="5303520" cy="548640"/>
          </a:xfrm>
          <a:prstGeom prst="rect">
            <a:avLst/>
          </a:prstGeom>
          <a:solidFill>
            <a:srgbClr val="BF8F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Caveats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309360" y="1874520"/>
            <a:ext cx="5303520" cy="31089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205740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</a:rPr>
              <a:t>GNN-Net alone does not beat CNN-Net (−1.3 pts at 1.0 s, p = 0.067; worse at 0.5 s)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</a:rPr>
              <a:t>Single seed (41); the CCA branch carries much of the discriminative load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</a:rPr>
              <a:t>Why the anatomical prior hurts is still a hypothesis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257800"/>
            <a:ext cx="11064240" cy="822960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GNN adds value through spatial feature mixing, not through discovering a specific graph topology.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Status and Next Steps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48235"/>
                </a:solidFill>
              </a:rPr>
              <a:t>Completed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47672"/>
            <a:ext cx="457200" cy="457200"/>
          </a:xfrm>
          <a:prstGeom prst="ellipse">
            <a:avLst/>
          </a:prstGeom>
          <a:solidFill>
            <a:srgbClr val="54823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8745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62626"/>
                </a:solidFill>
              </a:rPr>
              <a:t>GNN-Net, CNN-Net and CCA-Net baselines (35 subjects)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16352"/>
            <a:ext cx="457200" cy="457200"/>
          </a:xfrm>
          <a:prstGeom prst="ellipse">
            <a:avLst/>
          </a:prstGeom>
          <a:solidFill>
            <a:srgbClr val="54823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7432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62626"/>
                </a:solidFill>
              </a:rPr>
              <a:t>FBCCA, FBTtCCA and CCA baselines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85032"/>
            <a:ext cx="457200" cy="457200"/>
          </a:xfrm>
          <a:prstGeom prst="ellipse">
            <a:avLst/>
          </a:prstGeom>
          <a:solidFill>
            <a:srgbClr val="54823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36118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62626"/>
                </a:solidFill>
              </a:rPr>
              <a:t>Four adjacency ablations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553712"/>
            <a:ext cx="457200" cy="457200"/>
          </a:xfrm>
          <a:prstGeom prst="ellipse">
            <a:avLst/>
          </a:prstGeom>
          <a:solidFill>
            <a:srgbClr val="54823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44805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62626"/>
                </a:solidFill>
              </a:rPr>
              <a:t>Per-subject significance tests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2801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472C4"/>
                </a:solidFill>
              </a:rPr>
              <a:t>Next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1947672"/>
            <a:ext cx="457200" cy="457200"/>
          </a:xfrm>
          <a:prstGeom prst="ellipse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18745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62626"/>
                </a:solidFill>
              </a:rPr>
              <a:t>Multi-seed runs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816352"/>
            <a:ext cx="457200" cy="457200"/>
          </a:xfrm>
          <a:prstGeom prst="ellipse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27432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62626"/>
                </a:solidFill>
              </a:rPr>
              <a:t>Parameter, FLOPs and inference-time comparison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685032"/>
            <a:ext cx="457200" cy="457200"/>
          </a:xfrm>
          <a:prstGeom prst="ellipse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6118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62626"/>
                </a:solidFill>
              </a:rPr>
              <a:t>Visualise the learned adjacency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4553712"/>
            <a:ext cx="457200" cy="457200"/>
          </a:xfrm>
          <a:prstGeom prst="ellipse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44805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62626"/>
                </a:solidFill>
              </a:rPr>
              <a:t>Extra baselines (SVM, Random Forest, kNN) if required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5422392"/>
            <a:ext cx="457200" cy="457200"/>
          </a:xfrm>
          <a:prstGeom prst="ellipse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53492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62626"/>
                </a:solidFill>
              </a:rPr>
              <a:t>Final report and presentation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525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262626"/>
                </a:solidFill>
              </a:rPr>
              <a:t>[1] P. Wiszniewski, M. Kołodziej and A. Majkowski, "Classification of SSVEP Using a Subject-Independent Approach for Brain-Computer Interface Applications," CPEE, 2025, doi: 10.1109/CPEE67905.2025.11236753.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262626"/>
                </a:solidFill>
              </a:rPr>
              <a:t>[2] T. Jogamine, C. Mori and N. Matsunaga, "LSTM-Based Intention Classification System for PV Driving Direction using SSVEP and Gaze Position of Users," ICCAS, 2025, pp. 660–665.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262626"/>
                </a:solidFill>
              </a:rPr>
              <a:t>[3] Q. Li, C. Han, Y. Liu and J. Liu, "Optimized Complex Convolutional Neural Network for Steady-State Visual Evoked Potentials Signal Classification," CCSSTA, 2024, doi: 10.1109/CCSSTA62096.2024.10691737.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262626"/>
                </a:solidFill>
              </a:rPr>
              <a:t>[4] R. Xie, C. Xu, L. Dong and X. Wang, "Research on SSVEP Signal Classification Based on CNN-Mamba," ICBASE, 2026, doi: 10.1109/ICBASE70763.2026.11619472.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262626"/>
                </a:solidFill>
              </a:rPr>
              <a:t>[5] Y. Wang, X. Chen, X. Gao and S. Gao, "A Benchmark Dataset for SSVEP-Based Brain–Computer Interfaces," IEEE Trans. Neural Syst. Rehabil. Eng., vol. 25, no. 10, pp. 1746–1752, 2017, doi: 10.1109/TNSRE.2016.2627556.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262626"/>
                </a:solidFill>
              </a:rPr>
              <a:t>[6] L. Wang, M. Xu, J. Mei, J. Han, Y. Wang, T.-P. Jung and D. Ming, "Enhancing performance of SSVEP-based BCI by unsupervised learning information from test trials," IEEE EMBC, 2020, pp. 3359–3362.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262626"/>
                </a:solidFill>
              </a:rPr>
              <a:t>[7] X. Li, Y. Zhang, Y. Wu and Q. Li, "Multistream Dilated Convolutional Feature Fusion Neural Network for SSVEP Classification," ICFTIC, 2023, pp. 1044–1047, doi: 10.1109/ICFTIC59930.2023.10456289.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262626"/>
                </a:solidFill>
              </a:rPr>
              <a:t>[8] S. K. Jayarathne et al., "A Pattern Recognition Neural Network Approach for an SSVEP-Based Brain-Computer Interface," ICIIS, 2023, pp. 447–452, doi: 10.1109/ICIIS58898.2023.10253527.</a:t>
            </a:r>
            <a:endParaRPr lang="en-US" sz="1500" dirty="0"/>
          </a:p>
          <a:p>
            <a:pPr>
              <a:spcAft>
                <a:spcPts val="900"/>
              </a:spcAft>
            </a:pPr>
            <a:r>
              <a:rPr lang="en-US" sz="1500" dirty="0">
                <a:solidFill>
                  <a:srgbClr val="262626"/>
                </a:solidFill>
              </a:rPr>
              <a:t>[9] </a:t>
            </a:r>
            <a:r>
              <a:rPr lang="en-IN" sz="1500" dirty="0"/>
              <a:t>CCA-Net: Zero-Shot SSVEP Classification via an Integration of Canonical Correlation Analysis and Deep Neural </a:t>
            </a:r>
            <a:r>
              <a:rPr lang="en-IN" sz="1500" dirty="0" err="1"/>
              <a:t>Network,Yang</a:t>
            </a:r>
            <a:r>
              <a:rPr lang="en-IN" sz="1500" dirty="0"/>
              <a:t> Deng ,Zhiwei Ji , Yijun Wang , Member, IEEE, and S. Kevin Zhou  IEEE 2025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822960" y="14630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400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822960" y="384048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2426</Words>
  <Application>Microsoft Office PowerPoint</Application>
  <PresentationFormat>Widescreen</PresentationFormat>
  <Paragraphs>502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Graph Neural Network for SSVEP EEG Classification with CCA Fusion</vt:lpstr>
      <vt:lpstr>Problem and Motivation</vt:lpstr>
      <vt:lpstr>Objectives</vt:lpstr>
      <vt:lpstr>Societal Relevance and UN SDGs</vt:lpstr>
      <vt:lpstr>Literature Review (1/2)</vt:lpstr>
      <vt:lpstr>Literature Review (2/2)</vt:lpstr>
      <vt:lpstr>Research Gap</vt:lpstr>
      <vt:lpstr>System Overview</vt:lpstr>
      <vt:lpstr>Electrode Graph Representation</vt:lpstr>
      <vt:lpstr>Methodology</vt:lpstr>
      <vt:lpstr>Model and Experimental Setup</vt:lpstr>
      <vt:lpstr>Ablation Design</vt:lpstr>
      <vt:lpstr>Results: Accuracy and ITR</vt:lpstr>
      <vt:lpstr>Results at a Glance (1.0 s Window)</vt:lpstr>
      <vt:lpstr>Effect of Window Length</vt:lpstr>
      <vt:lpstr>Information Transfer Rate at 1.0 s</vt:lpstr>
      <vt:lpstr>Our Results vs Published Papers</vt:lpstr>
      <vt:lpstr>Our Results vs Published Papers: Graph</vt:lpstr>
      <vt:lpstr>Difference from the Published Papers (1.0 s)</vt:lpstr>
      <vt:lpstr>Graph Ablation Results (1.0 s)</vt:lpstr>
      <vt:lpstr>Key Findings and Caveats</vt:lpstr>
      <vt:lpstr>Status and Next Steps</vt:lpstr>
      <vt:lpstr>References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Review-II: GNN for SSVEP EEG Classification</dc:title>
  <dc:subject>PptxGenJS Presentation</dc:subject>
  <dc:creator>PptxGenJS</dc:creator>
  <cp:lastModifiedBy>Satish K</cp:lastModifiedBy>
  <cp:revision>6</cp:revision>
  <dcterms:created xsi:type="dcterms:W3CDTF">2026-10-12T06:21:30Z</dcterms:created>
  <dcterms:modified xsi:type="dcterms:W3CDTF">2026-10-12T10:49:39Z</dcterms:modified>
</cp:coreProperties>
</file>